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61" r:id="rId2"/>
    <p:sldId id="258" r:id="rId3"/>
    <p:sldId id="26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Layouts/slideLayout1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idx="0"/>
          </p:nvPr>
        </p:nvSpPr>
        <p:spPr/>
        <p:txBody>
          <a:bodyPr lIns="0" tIns="0" rIns="0" bIns="0"/>
          <a:lstStyle>
            <a:lvl1pPr>
              <a:defRPr sz="2933" b="1" i="0">
                <a:solidFill>
                  <a:srgbClr val="404040"/>
                </a:solidFill>
                <a:latin typeface="함초롬바탕"/>
                <a:cs typeface="함초롬바탕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66" b="1" i="0">
                <a:solidFill>
                  <a:srgbClr val="a6a6a6"/>
                </a:solidFill>
                <a:latin typeface="함초롬돋움"/>
                <a:cs typeface="함초롬돋움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20"/>
              </a:spcBef>
              <a:defRPr/>
            </a:pPr>
            <a:r>
              <a:rPr lang="ko-KR" altLang="en-US"/>
              <a:t>2D</a:t>
            </a:r>
            <a:r>
              <a:rPr lang="ko-KR" altLang="en-US" spc="-25"/>
              <a:t> </a:t>
            </a:r>
            <a:r>
              <a:rPr lang="ko-KR" altLang="en-US" spc="-10"/>
              <a:t>게임 프로그래밍</a:t>
            </a:r>
            <a:endParaRPr lang="ko-KR" altLang="en-US" spc="-1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66" b="1" i="0">
                <a:solidFill>
                  <a:srgbClr val="a6a6a6"/>
                </a:solidFill>
                <a:latin typeface="함초롬돋움"/>
                <a:cs typeface="함초롬돋움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20"/>
              </a:spcBef>
              <a:defRPr/>
            </a:pPr>
            <a:r>
              <a:rPr lang="ko-KR" altLang="en-US" spc="10"/>
              <a:t>Copyleft</a:t>
            </a:r>
            <a:r>
              <a:rPr lang="ko-KR" altLang="en-US" spc="-5"/>
              <a:t> </a:t>
            </a:r>
            <a:r>
              <a:rPr lang="ko-KR" altLang="en-US" spc="10"/>
              <a:t>by</a:t>
            </a:r>
            <a:r>
              <a:rPr lang="ko-KR" altLang="en-US" spc="25"/>
              <a:t> </a:t>
            </a:r>
            <a:r>
              <a:rPr lang="ko-KR" altLang="en-US" spc="-25"/>
              <a:t>이대현</a:t>
            </a:r>
            <a:endParaRPr lang="ko-KR" altLang="en-US" spc="-25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B6F15528-21DE-4FAA-801E-634DDDAF4B2B}" type="slidenum">
              <a:rPr lang="ko-KR" altLang="en-US"/>
              <a:pPr lvl="0">
                <a:defRPr/>
              </a:pPr>
              <a:t>#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4955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3.xml"  /><Relationship Id="rId2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상업의 제왕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2022182020,</a:t>
            </a:r>
            <a:r>
              <a:rPr lang="ko-KR" altLang="en-US"/>
              <a:t> 서상혁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416231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556" y="757934"/>
            <a:ext cx="12004887" cy="0"/>
          </a:xfrm>
          <a:custGeom>
            <a:avLst/>
            <a:gdLst/>
            <a:rect l="l" t="t" r="r" b="b"/>
            <a:pathLst>
              <a:path w="9003665">
                <a:moveTo>
                  <a:pt x="0" y="0"/>
                </a:moveTo>
                <a:lnTo>
                  <a:pt x="9003140" y="0"/>
                </a:lnTo>
              </a:path>
            </a:pathLst>
          </a:custGeom>
          <a:ln w="25400">
            <a:solidFill>
              <a:srgbClr val="048ed2"/>
            </a:solidFill>
          </a:ln>
        </p:spPr>
        <p:txBody>
          <a:bodyPr wrap="square" lIns="0" tIns="0" rIns="0" bIns="0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266868" y="183917"/>
            <a:ext cx="5619327" cy="459740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95"/>
              </a:spcBef>
              <a:defRPr/>
            </a:pPr>
            <a:r>
              <a:rPr spc="-155"/>
              <a:t>프로젝트</a:t>
            </a:r>
            <a:r>
              <a:rPr spc="-110"/>
              <a:t> </a:t>
            </a:r>
            <a:r>
              <a:rPr spc="-155"/>
              <a:t>개발</a:t>
            </a:r>
            <a:r>
              <a:rPr spc="-90"/>
              <a:t> </a:t>
            </a:r>
            <a:r>
              <a:rPr spc="-155"/>
              <a:t>진행</a:t>
            </a:r>
            <a:r>
              <a:rPr spc="-95"/>
              <a:t> </a:t>
            </a:r>
            <a:r>
              <a:rPr spc="-155"/>
              <a:t>상황</a:t>
            </a:r>
            <a:r>
              <a:rPr spc="-100"/>
              <a:t> </a:t>
            </a:r>
            <a:endParaRPr spc="12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11081511" y="6626860"/>
            <a:ext cx="967739" cy="135890"/>
          </a:xfrm>
          <a:prstGeom prst="rect">
            <a:avLst/>
          </a:prstGeom>
        </p:spPr>
        <p:txBody>
          <a:bodyPr vert="horz" wrap="square" lIns="0" tIns="254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20"/>
              </a:spcBef>
              <a:defRPr/>
            </a:pPr>
            <a:r>
              <a:rPr spc="10"/>
              <a:t>Copyleft</a:t>
            </a:r>
            <a:r>
              <a:rPr spc="-5"/>
              <a:t> </a:t>
            </a:r>
            <a:r>
              <a:rPr spc="10"/>
              <a:t>by</a:t>
            </a:r>
            <a:r>
              <a:rPr spc="25"/>
              <a:t> </a:t>
            </a:r>
            <a:r>
              <a:rPr spc="-25"/>
              <a:t>이대현</a:t>
            </a:r>
            <a:endParaRPr spc="-25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44296" y="1051040"/>
          <a:ext cx="8503407" cy="54506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2781"/>
                <a:gridCol w="828891"/>
                <a:gridCol w="2628173"/>
                <a:gridCol w="1743802"/>
                <a:gridCol w="1369759"/>
              </a:tblGrid>
              <a:tr h="335280">
                <a:tc>
                  <a:txBody>
                    <a:bodyPr vert="horz" lIns="0" tIns="22225" rIns="0" bIns="0" anchor="t" anchorCtr="0"/>
                    <a:lstStyle/>
                    <a:p>
                      <a:pPr marL="68580" lvl="0">
                        <a:lnSpc>
                          <a:spcPct val="100000"/>
                        </a:lnSpc>
                        <a:spcBef>
                          <a:spcPts val="175"/>
                        </a:spcBef>
                        <a:defRPr/>
                      </a:pPr>
                      <a:r>
                        <a:rPr sz="1600" b="1" spc="-25">
                          <a:latin typeface="한컴산뜻돋움"/>
                          <a:cs typeface="한컴산뜻돋움"/>
                        </a:rPr>
                        <a:t>주차</a:t>
                      </a:r>
                      <a:endParaRPr sz="1600">
                        <a:latin typeface="한컴산뜻돋움"/>
                        <a:cs typeface="한컴산뜻돋움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gridSpan="3"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0" marB="0"/>
                </a:tc>
                <a:tc>
                  <a:txBody>
                    <a:bodyPr vert="horz" lIns="0" tIns="22225" rIns="0" bIns="0" anchor="t" anchorCtr="0"/>
                    <a:lstStyle/>
                    <a:p>
                      <a:pPr marR="173355" lvl="0" algn="r">
                        <a:lnSpc>
                          <a:spcPct val="100000"/>
                        </a:lnSpc>
                        <a:spcBef>
                          <a:spcPts val="175"/>
                        </a:spcBef>
                        <a:defRPr/>
                      </a:pPr>
                      <a:r>
                        <a:rPr sz="1600" b="1" spc="-25">
                          <a:latin typeface="한컴산뜻돋움"/>
                          <a:cs typeface="한컴산뜻돋움"/>
                        </a:rPr>
                        <a:t>진행률</a:t>
                      </a:r>
                      <a:endParaRPr sz="1600">
                        <a:latin typeface="한컴산뜻돋움"/>
                        <a:cs typeface="한컴산뜻돋움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</a:tr>
              <a:tr h="428625">
                <a:tc rowSpan="2">
                  <a:txBody>
                    <a:bodyPr vert="horz" lIns="0" tIns="24130" rIns="0" bIns="0" anchor="t" anchorCtr="0"/>
                    <a:lstStyle/>
                    <a:p>
                      <a:pPr marL="68580" lvl="0">
                        <a:lnSpc>
                          <a:spcPct val="100000"/>
                        </a:lnSpc>
                        <a:spcBef>
                          <a:spcPts val="190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1주</a:t>
                      </a:r>
                      <a:endParaRPr sz="1400">
                        <a:latin typeface="한컴산뜻돋움"/>
                        <a:cs typeface="한컴산뜻돋움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>
                  <a:txBody>
                    <a:bodyPr vert="horz" lIns="0" tIns="24130" rIns="0" bIns="0" anchor="t" anchorCtr="0"/>
                    <a:lstStyle/>
                    <a:p>
                      <a:pPr marR="1905" lvl="0" algn="ctr">
                        <a:lnSpc>
                          <a:spcPct val="100000"/>
                        </a:lnSpc>
                        <a:spcBef>
                          <a:spcPts val="190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계획</a:t>
                      </a:r>
                      <a:endParaRPr sz="1400">
                        <a:latin typeface="한컴산뜻돋움"/>
                        <a:cs typeface="한컴산뜻돋움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gridSpan="2">
                  <a:txBody>
                    <a:bodyPr vert="horz" lIns="0" tIns="0" rIns="0" bIns="0" anchor="t" anchorCtr="0"/>
                    <a:lstStyle/>
                    <a:p>
                      <a:pPr lvl="0">
                        <a:defRPr/>
                      </a:pPr>
                      <a:r>
                        <a:rPr lang="ko-KR" altLang="en-US" sz="1400"/>
                        <a:t>1주차: 게임 시스템 기획</a:t>
                      </a:r>
                      <a:endParaRPr lang="ko-KR" altLang="en-US" sz="1400"/>
                    </a:p>
                    <a:p>
                      <a:pPr lvl="0"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0" marB="0"/>
                </a:tc>
                <a:tc rowSpan="2"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134620" lvl="0" algn="r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lang="en-US" altLang="ko-KR" sz="1400" b="1" spc="-20">
                          <a:latin typeface="한컴산뜻돋움"/>
                          <a:cs typeface="한컴산뜻돋움"/>
                        </a:rPr>
                        <a:t>7</a:t>
                      </a:r>
                      <a:r>
                        <a:rPr sz="1400" b="1" spc="-20">
                          <a:latin typeface="한컴산뜻돋움"/>
                          <a:cs typeface="한컴산뜻돋움"/>
                        </a:rPr>
                        <a:t>0%</a:t>
                      </a:r>
                      <a:endParaRPr sz="1400" b="1" spc="-20">
                        <a:latin typeface="한컴산뜻돋움"/>
                        <a:cs typeface="한컴산뜻돋움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</a:tr>
              <a:tr h="314960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>
                  <a:txBody>
                    <a:bodyPr vert="horz" lIns="0" tIns="24765" rIns="0" bIns="0" anchor="t" anchorCtr="0"/>
                    <a:lstStyle/>
                    <a:p>
                      <a:pPr marR="1905" lvl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결과</a:t>
                      </a:r>
                      <a:endParaRPr sz="1400">
                        <a:latin typeface="한컴산뜻돋움"/>
                        <a:cs typeface="한컴산뜻돋움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gridSpan="2"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스프라이트 다운로드</a:t>
                      </a:r>
                      <a:r>
                        <a:rPr lang="en-US" altLang="ko-KR" sz="140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 움직임 구현</a:t>
                      </a:r>
                      <a:br>
                        <a:rPr lang="ko-KR" altLang="en-US" sz="1400">
                          <a:latin typeface="Times New Roman"/>
                          <a:cs typeface="Times New Roman"/>
                        </a:rPr>
                      </a:b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배경</a:t>
                      </a:r>
                      <a:r>
                        <a:rPr lang="en-US" altLang="ko-KR" sz="140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 구매</a:t>
                      </a:r>
                      <a:r>
                        <a:rPr lang="en-US" altLang="ko-KR" sz="14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판매물건의 미구현</a:t>
                      </a:r>
                      <a:endParaRPr lang="ko-KR" altLang="en-US" sz="14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defRPr/>
                      </a:pPr>
                      <a:endParaRPr lang="ko-KR" altLang="en-US" sz="14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ko-KR" sz="14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 아이템 모드 구현예정</a:t>
                      </a:r>
                      <a:endParaRPr lang="ko-KR" alt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0" marB="0"/>
                </a:tc>
                <a:tc vMerge="1">
                  <a:txBody>
                    <a:bodyPr vert="horz" lIns="0" tIns="24765" rIns="0" bIns="0" anchor="t" anchorCtr="0"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</a:tr>
              <a:tr h="428625">
                <a:tc rowSpan="2">
                  <a:txBody>
                    <a:bodyPr vert="horz" lIns="0" tIns="24765" rIns="0" bIns="0" anchor="t" anchorCtr="0"/>
                    <a:lstStyle/>
                    <a:p>
                      <a:pPr marL="68580" lvl="0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2주</a:t>
                      </a:r>
                      <a:r>
                        <a:rPr lang="ko-KR" altLang="en-US" sz="1400" b="1" spc="-25">
                          <a:latin typeface="한컴산뜻돋움"/>
                          <a:cs typeface="한컴산뜻돋움"/>
                        </a:rPr>
                        <a:t> </a:t>
                      </a:r>
                      <a:r>
                        <a:rPr lang="en-US" altLang="ko-KR" sz="1400" b="1" spc="-25">
                          <a:latin typeface="한컴산뜻돋움"/>
                          <a:cs typeface="한컴산뜻돋움"/>
                        </a:rPr>
                        <a:t>-</a:t>
                      </a:r>
                      <a:r>
                        <a:rPr lang="ko-KR" altLang="en-US" sz="1400" b="1" spc="-25">
                          <a:latin typeface="한컴산뜻돋움"/>
                          <a:cs typeface="한컴산뜻돋움"/>
                        </a:rPr>
                        <a:t> </a:t>
                      </a:r>
                      <a:r>
                        <a:rPr lang="en-US" altLang="ko-KR" sz="1400" b="1" spc="-25">
                          <a:latin typeface="한컴산뜻돋움"/>
                          <a:cs typeface="한컴산뜻돋움"/>
                        </a:rPr>
                        <a:t>3</a:t>
                      </a:r>
                      <a:r>
                        <a:rPr lang="ko-KR" altLang="en-US" sz="1400" b="1" spc="-25">
                          <a:latin typeface="한컴산뜻돋움"/>
                          <a:cs typeface="한컴산뜻돋움"/>
                        </a:rPr>
                        <a:t>주</a:t>
                      </a:r>
                      <a:endParaRPr lang="ko-KR" altLang="en-US" sz="1400" b="1" spc="-25">
                        <a:latin typeface="한컴산뜻돋움"/>
                        <a:cs typeface="한컴산뜻돋움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>
                  <a:txBody>
                    <a:bodyPr vert="horz" lIns="0" tIns="24765" rIns="0" bIns="0" anchor="t" anchorCtr="0"/>
                    <a:lstStyle/>
                    <a:p>
                      <a:pPr marR="1905" lvl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계획</a:t>
                      </a:r>
                      <a:endParaRPr sz="1400">
                        <a:latin typeface="한컴산뜻돋움"/>
                        <a:cs typeface="한컴산뜻돋움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gridSpan="2">
                  <a:txBody>
                    <a:bodyPr vert="horz" lIns="0" tIns="0" rIns="0" bIns="0" anchor="t" anchorCtr="0"/>
                    <a:lstStyle/>
                    <a:p>
                      <a:pPr lvl="0">
                        <a:defRPr/>
                      </a:pPr>
                      <a:r>
                        <a:rPr lang="ko-KR" altLang="en-US" sz="1400"/>
                        <a:t>2 </a:t>
                      </a:r>
                      <a:r>
                        <a:rPr lang="en-US" altLang="ko-KR" sz="1400"/>
                        <a:t>-</a:t>
                      </a:r>
                      <a:r>
                        <a:rPr lang="ko-KR" altLang="en-US" sz="1400"/>
                        <a:t> </a:t>
                      </a:r>
                      <a:r>
                        <a:rPr lang="en-US" altLang="ko-KR" sz="1400"/>
                        <a:t>3</a:t>
                      </a:r>
                      <a:r>
                        <a:rPr lang="ko-KR" altLang="en-US" sz="1400"/>
                        <a:t>주차: 상품 구매 및 판매 </a:t>
                      </a:r>
                      <a:endParaRPr lang="ko-KR" altLang="en-US" sz="1400"/>
                    </a:p>
                    <a:p>
                      <a:pPr lvl="0"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0" marB="0"/>
                </a:tc>
                <a:tc rowSpan="2"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177165" lvl="0" algn="r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lang="en-US" altLang="ko-KR" sz="1400" b="1" spc="-25">
                          <a:latin typeface="한컴산뜻돋움"/>
                          <a:cs typeface="한컴산뜻돋움"/>
                        </a:rPr>
                        <a:t>5</a:t>
                      </a: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0%</a:t>
                      </a:r>
                      <a:endParaRPr sz="1400" b="1" spc="-25">
                        <a:latin typeface="한컴산뜻돋움"/>
                        <a:cs typeface="한컴산뜻돋움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</a:tr>
              <a:tr h="314960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>
                  <a:txBody>
                    <a:bodyPr vert="horz" lIns="0" tIns="24765" rIns="0" bIns="0" anchor="t" anchorCtr="0"/>
                    <a:lstStyle/>
                    <a:p>
                      <a:pPr marR="1905" lvl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결과</a:t>
                      </a:r>
                      <a:endParaRPr sz="1400">
                        <a:latin typeface="한컴산뜻돋움"/>
                        <a:cs typeface="한컴산뜻돋움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gridSpan="2"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구매</a:t>
                      </a:r>
                      <a:r>
                        <a:rPr lang="en-US" altLang="ko-KR" sz="140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 판매 클래스 생성</a:t>
                      </a:r>
                      <a:endParaRPr lang="ko-KR" altLang="en-US" sz="14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defRPr/>
                      </a:pPr>
                      <a:endParaRPr lang="ko-KR" altLang="en-US" sz="14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ko-KR" sz="14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 인벤토리와 아이템 상호작용</a:t>
                      </a:r>
                      <a:r>
                        <a:rPr lang="en-US" altLang="ko-KR" sz="140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 현금 클래스 구현</a:t>
                      </a:r>
                      <a:endParaRPr lang="ko-KR" alt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0" marB="0"/>
                </a:tc>
                <a:tc vMerge="1">
                  <a:txBody>
                    <a:bodyPr vert="horz" lIns="0" tIns="24765" rIns="0" bIns="0" anchor="t" anchorCtr="0"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</a:tr>
              <a:tr h="428625">
                <a:tc rowSpan="2">
                  <a:txBody>
                    <a:bodyPr vert="horz" lIns="0" tIns="24765" rIns="0" bIns="0" anchor="t" anchorCtr="0"/>
                    <a:lstStyle/>
                    <a:p>
                      <a:pPr marL="68580" lvl="0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4주</a:t>
                      </a:r>
                      <a:r>
                        <a:rPr lang="ko-KR" altLang="en-US" sz="1400" b="1" spc="-25">
                          <a:latin typeface="한컴산뜻돋움"/>
                          <a:cs typeface="한컴산뜻돋움"/>
                        </a:rPr>
                        <a:t> </a:t>
                      </a:r>
                      <a:r>
                        <a:rPr lang="en-US" altLang="ko-KR" sz="1400" b="1" spc="-25">
                          <a:latin typeface="한컴산뜻돋움"/>
                          <a:cs typeface="한컴산뜻돋움"/>
                        </a:rPr>
                        <a:t>-</a:t>
                      </a:r>
                      <a:r>
                        <a:rPr lang="ko-KR" altLang="en-US" sz="1400" b="1" spc="-25">
                          <a:latin typeface="한컴산뜻돋움"/>
                          <a:cs typeface="한컴산뜻돋움"/>
                        </a:rPr>
                        <a:t> </a:t>
                      </a:r>
                      <a:r>
                        <a:rPr lang="en-US" altLang="ko-KR" sz="1400" b="1" spc="-25">
                          <a:latin typeface="한컴산뜻돋움"/>
                          <a:cs typeface="한컴산뜻돋움"/>
                        </a:rPr>
                        <a:t>5</a:t>
                      </a:r>
                      <a:r>
                        <a:rPr lang="ko-KR" altLang="en-US" sz="1400" b="1" spc="-25">
                          <a:latin typeface="한컴산뜻돋움"/>
                          <a:cs typeface="한컴산뜻돋움"/>
                        </a:rPr>
                        <a:t>주</a:t>
                      </a:r>
                      <a:endParaRPr lang="ko-KR" altLang="en-US" sz="1400" b="1" spc="-25">
                        <a:latin typeface="한컴산뜻돋움"/>
                        <a:cs typeface="한컴산뜻돋움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>
                  <a:txBody>
                    <a:bodyPr vert="horz" lIns="0" tIns="24765" rIns="0" bIns="0" anchor="t" anchorCtr="0"/>
                    <a:lstStyle/>
                    <a:p>
                      <a:pPr marR="1905" lvl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계획</a:t>
                      </a:r>
                      <a:endParaRPr sz="1400">
                        <a:latin typeface="한컴산뜻돋움"/>
                        <a:cs typeface="한컴산뜻돋움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gridSpan="2">
                  <a:txBody>
                    <a:bodyPr vert="horz" lIns="0" tIns="0" rIns="0" bIns="0" anchor="t" anchorCtr="0"/>
                    <a:lstStyle/>
                    <a:p>
                      <a:pPr lvl="0">
                        <a:defRPr/>
                      </a:pPr>
                      <a:r>
                        <a:rPr lang="ko-KR" altLang="en-US" sz="1400"/>
                        <a:t>4 </a:t>
                      </a:r>
                      <a:r>
                        <a:rPr lang="en-US" altLang="ko-KR" sz="1400"/>
                        <a:t>-</a:t>
                      </a:r>
                      <a:r>
                        <a:rPr lang="ko-KR" altLang="en-US" sz="1400"/>
                        <a:t> </a:t>
                      </a:r>
                      <a:r>
                        <a:rPr lang="en-US" altLang="ko-KR" sz="1400"/>
                        <a:t>5</a:t>
                      </a:r>
                      <a:r>
                        <a:rPr lang="ko-KR" altLang="en-US" sz="1400"/>
                        <a:t>주차: 상권 확장 및 가격변동</a:t>
                      </a:r>
                      <a:endParaRPr lang="ko-KR" altLang="en-US" sz="1400"/>
                    </a:p>
                    <a:p>
                      <a:pPr lvl="0"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0" marB="0"/>
                </a:tc>
                <a:tc rowSpan="2"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177165" lvl="0" algn="r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lang="en-US" altLang="ko-KR" sz="1400" b="1" spc="-25">
                          <a:latin typeface="한컴산뜻돋움"/>
                          <a:cs typeface="한컴산뜻돋움"/>
                        </a:rPr>
                        <a:t>1</a:t>
                      </a: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0%</a:t>
                      </a:r>
                      <a:endParaRPr sz="1400" b="1" spc="-25">
                        <a:latin typeface="한컴산뜻돋움"/>
                        <a:cs typeface="한컴산뜻돋움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</a:tr>
              <a:tr h="314960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>
                  <a:txBody>
                    <a:bodyPr vert="horz" lIns="0" tIns="24765" rIns="0" bIns="0" anchor="t" anchorCtr="0"/>
                    <a:lstStyle/>
                    <a:p>
                      <a:pPr marR="1905" lvl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결과</a:t>
                      </a:r>
                      <a:endParaRPr sz="1400">
                        <a:latin typeface="한컴산뜻돋움"/>
                        <a:cs typeface="한컴산뜻돋움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gridSpan="2"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상권확장</a:t>
                      </a:r>
                      <a:r>
                        <a:rPr lang="en-US" altLang="ko-KR" sz="140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 모드변경을 위한 배경스프라이트 다운로드</a:t>
                      </a:r>
                      <a:endParaRPr lang="ko-KR" altLang="en-US" sz="14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 </a:t>
                      </a:r>
                      <a:endParaRPr lang="en-US" altLang="ko-KR" sz="14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14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ko-KR" altLang="en-US" sz="1400">
                          <a:latin typeface="Times New Roman"/>
                          <a:cs typeface="Times New Roman"/>
                        </a:rPr>
                        <a:t> 판매량 객체완료 후 가격변동 계획</a:t>
                      </a:r>
                      <a:endParaRPr lang="ko-KR" alt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0" marB="0"/>
                </a:tc>
                <a:tc vMerge="1">
                  <a:txBody>
                    <a:bodyPr vert="horz" lIns="0" tIns="24765" rIns="0" bIns="0" anchor="t" anchorCtr="0"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</a:tr>
              <a:tr h="428625">
                <a:tc>
                  <a:txBody>
                    <a:bodyPr vert="horz" lIns="0" tIns="24765" rIns="0" bIns="0" anchor="t" anchorCtr="0"/>
                    <a:lstStyle/>
                    <a:p>
                      <a:pPr marL="68580" lvl="0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6주</a:t>
                      </a:r>
                      <a:r>
                        <a:rPr lang="ko-KR" altLang="en-US" sz="1400" b="1" spc="-25">
                          <a:latin typeface="한컴산뜻돋움"/>
                          <a:cs typeface="한컴산뜻돋움"/>
                        </a:rPr>
                        <a:t> </a:t>
                      </a:r>
                      <a:r>
                        <a:rPr lang="en-US" altLang="ko-KR" sz="1400" b="1" spc="-25">
                          <a:latin typeface="한컴산뜻돋움"/>
                          <a:cs typeface="한컴산뜻돋움"/>
                        </a:rPr>
                        <a:t>-</a:t>
                      </a:r>
                      <a:r>
                        <a:rPr lang="ko-KR" altLang="en-US" sz="1400" b="1" spc="-25">
                          <a:latin typeface="한컴산뜻돋움"/>
                          <a:cs typeface="한컴산뜻돋움"/>
                        </a:rPr>
                        <a:t> </a:t>
                      </a:r>
                      <a:r>
                        <a:rPr lang="en-US" altLang="ko-KR" sz="1400" b="1" spc="-25">
                          <a:latin typeface="한컴산뜻돋움"/>
                          <a:cs typeface="한컴산뜻돋움"/>
                        </a:rPr>
                        <a:t>7</a:t>
                      </a:r>
                      <a:r>
                        <a:rPr lang="ko-KR" altLang="en-US" sz="1400" b="1" spc="-25">
                          <a:latin typeface="한컴산뜻돋움"/>
                          <a:cs typeface="한컴산뜻돋움"/>
                        </a:rPr>
                        <a:t>주</a:t>
                      </a:r>
                      <a:endParaRPr lang="ko-KR" altLang="en-US" sz="1400" b="1" spc="-25">
                        <a:latin typeface="한컴산뜻돋움"/>
                        <a:cs typeface="한컴산뜻돋움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>
                  <a:txBody>
                    <a:bodyPr vert="horz" lIns="0" tIns="24765" rIns="0" bIns="0" anchor="t" anchorCtr="0"/>
                    <a:lstStyle/>
                    <a:p>
                      <a:pPr marR="1905" lvl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계획</a:t>
                      </a:r>
                      <a:endParaRPr sz="1400">
                        <a:latin typeface="한컴산뜻돋움"/>
                        <a:cs typeface="한컴산뜻돋움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gridSpan="2">
                  <a:txBody>
                    <a:bodyPr vert="horz" lIns="0" tIns="0" rIns="0" bIns="0" anchor="t" anchorCtr="0"/>
                    <a:lstStyle/>
                    <a:p>
                      <a:pPr lvl="0">
                        <a:defRPr/>
                      </a:pPr>
                      <a:r>
                        <a:rPr lang="ko-KR" altLang="en-US" sz="1400"/>
                        <a:t>6 </a:t>
                      </a:r>
                      <a:r>
                        <a:rPr lang="en-US" altLang="ko-KR" sz="1400"/>
                        <a:t>-</a:t>
                      </a:r>
                      <a:r>
                        <a:rPr lang="ko-KR" altLang="en-US" sz="1400"/>
                        <a:t> </a:t>
                      </a:r>
                      <a:r>
                        <a:rPr lang="en-US" altLang="ko-KR" sz="1400"/>
                        <a:t>7</a:t>
                      </a:r>
                      <a:r>
                        <a:rPr lang="ko-KR" altLang="en-US" sz="1400"/>
                        <a:t>주차: 기업인수 및 인수 후 효과</a:t>
                      </a:r>
                      <a:endParaRPr lang="ko-KR" altLang="en-US" sz="1400"/>
                    </a:p>
                    <a:p>
                      <a:pPr lvl="0"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0" marB="0"/>
                </a:tc>
                <a:tc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</a:tr>
              <a:tr h="638175">
                <a:tc>
                  <a:txBody>
                    <a:bodyPr vert="horz" lIns="0" tIns="25400" rIns="0" bIns="0" anchor="t" anchorCtr="0"/>
                    <a:lstStyle/>
                    <a:p>
                      <a:pPr marL="68580" lvl="0">
                        <a:lnSpc>
                          <a:spcPct val="100000"/>
                        </a:lnSpc>
                        <a:spcBef>
                          <a:spcPts val="200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8주</a:t>
                      </a:r>
                      <a:r>
                        <a:rPr lang="ko-KR" altLang="en-US" sz="1400" b="1" spc="-25">
                          <a:latin typeface="한컴산뜻돋움"/>
                          <a:cs typeface="한컴산뜻돋움"/>
                        </a:rPr>
                        <a:t> </a:t>
                      </a:r>
                      <a:r>
                        <a:rPr lang="en-US" altLang="ko-KR" sz="1400" b="1" spc="-25">
                          <a:latin typeface="한컴산뜻돋움"/>
                          <a:cs typeface="한컴산뜻돋움"/>
                        </a:rPr>
                        <a:t>-</a:t>
                      </a:r>
                      <a:r>
                        <a:rPr lang="ko-KR" altLang="en-US" sz="1400" b="1" spc="-25">
                          <a:latin typeface="한컴산뜻돋움"/>
                          <a:cs typeface="한컴산뜻돋움"/>
                        </a:rPr>
                        <a:t> </a:t>
                      </a:r>
                      <a:r>
                        <a:rPr lang="en-US" altLang="ko-KR" sz="1400" b="1" spc="-25">
                          <a:latin typeface="한컴산뜻돋움"/>
                          <a:cs typeface="한컴산뜻돋움"/>
                        </a:rPr>
                        <a:t>9</a:t>
                      </a:r>
                      <a:r>
                        <a:rPr lang="ko-KR" altLang="en-US" sz="1400" b="1" spc="-25">
                          <a:latin typeface="한컴산뜻돋움"/>
                          <a:cs typeface="한컴산뜻돋움"/>
                        </a:rPr>
                        <a:t>주</a:t>
                      </a:r>
                      <a:endParaRPr lang="ko-KR" altLang="en-US" sz="1400" b="1" spc="-25">
                        <a:latin typeface="한컴산뜻돋움"/>
                        <a:cs typeface="한컴산뜻돋움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>
                  <a:txBody>
                    <a:bodyPr vert="horz" lIns="0" tIns="25400" rIns="0" bIns="0" anchor="t" anchorCtr="0"/>
                    <a:lstStyle/>
                    <a:p>
                      <a:pPr marR="1905" lvl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계획</a:t>
                      </a:r>
                      <a:endParaRPr sz="1400">
                        <a:latin typeface="한컴산뜻돋움"/>
                        <a:cs typeface="한컴산뜻돋움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gridSpan="2">
                  <a:txBody>
                    <a:bodyPr vert="horz" lIns="0" tIns="0" rIns="0" bIns="0" anchor="t" anchorCtr="0"/>
                    <a:lstStyle/>
                    <a:p>
                      <a:pPr lvl="0">
                        <a:defRPr/>
                      </a:pPr>
                      <a:r>
                        <a:rPr lang="en-US" altLang="ko-KR" sz="1400"/>
                        <a:t>8</a:t>
                      </a:r>
                      <a:r>
                        <a:rPr lang="ko-KR" altLang="en-US" sz="1400"/>
                        <a:t> </a:t>
                      </a:r>
                      <a:r>
                        <a:rPr lang="en-US" altLang="ko-KR" sz="1400"/>
                        <a:t>-</a:t>
                      </a:r>
                      <a:r>
                        <a:rPr lang="ko-KR" altLang="en-US" sz="1400"/>
                        <a:t> </a:t>
                      </a:r>
                      <a:r>
                        <a:rPr lang="en-US" altLang="ko-KR" sz="1400"/>
                        <a:t>9주차: 게임 최종 테스트 및 밸런스 조정</a:t>
                      </a:r>
                      <a:endParaRPr lang="en-US" altLang="ko-KR" sz="1400"/>
                    </a:p>
                    <a:p>
                      <a:pPr lvl="0">
                        <a:defRPr/>
                      </a:pPr>
                      <a:endParaRPr lang="en-US" altLang="ko-KR" sz="1400"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0" marB="0"/>
                </a:tc>
                <a:tc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</a:tr>
              <a:tr h="314960">
                <a:tc>
                  <a:txBody>
                    <a:bodyPr vert="horz" lIns="0" tIns="25400" rIns="0" bIns="0" anchor="t" anchorCtr="0"/>
                    <a:lstStyle/>
                    <a:p>
                      <a:pPr marL="68580" lvl="0">
                        <a:lnSpc>
                          <a:spcPct val="100000"/>
                        </a:lnSpc>
                        <a:spcBef>
                          <a:spcPts val="200"/>
                        </a:spcBef>
                        <a:defRPr/>
                      </a:pPr>
                      <a:r>
                        <a:rPr lang="en-US" altLang="ko-KR" sz="1400" b="1" spc="-25">
                          <a:latin typeface="한컴산뜻돋움"/>
                          <a:cs typeface="한컴산뜻돋움"/>
                        </a:rPr>
                        <a:t>9</a:t>
                      </a: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주</a:t>
                      </a:r>
                      <a:endParaRPr sz="1400" b="1" spc="-25">
                        <a:latin typeface="한컴산뜻돋움"/>
                        <a:cs typeface="한컴산뜻돋움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>
                  <a:txBody>
                    <a:bodyPr vert="horz" lIns="0" tIns="25400" rIns="0" bIns="0" anchor="t" anchorCtr="0"/>
                    <a:lstStyle/>
                    <a:p>
                      <a:pPr marR="1905" lvl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계획</a:t>
                      </a:r>
                      <a:endParaRPr sz="1400">
                        <a:latin typeface="한컴산뜻돋움"/>
                        <a:cs typeface="한컴산뜻돋움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gridSpan="2"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0" marB="0"/>
                </a:tc>
                <a:tc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</a:tr>
              <a:tr h="314113">
                <a:tc>
                  <a:txBody>
                    <a:bodyPr vert="horz" lIns="0" tIns="25400" rIns="0" bIns="0" anchor="t" anchorCtr="0"/>
                    <a:lstStyle/>
                    <a:p>
                      <a:pPr marL="68580" lvl="0">
                        <a:lnSpc>
                          <a:spcPct val="100000"/>
                        </a:lnSpc>
                        <a:spcBef>
                          <a:spcPts val="200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10</a:t>
                      </a:r>
                      <a:endParaRPr sz="1400">
                        <a:latin typeface="한컴산뜻돋움"/>
                        <a:cs typeface="한컴산뜻돋움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>
                  <a:txBody>
                    <a:bodyPr vert="horz" lIns="0" tIns="25400" rIns="0" bIns="0" anchor="t" anchorCtr="0"/>
                    <a:lstStyle/>
                    <a:p>
                      <a:pPr marR="1905" lvl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defRPr/>
                      </a:pPr>
                      <a:r>
                        <a:rPr sz="1400" b="1" spc="-25">
                          <a:latin typeface="한컴산뜻돋움"/>
                          <a:cs typeface="한컴산뜻돋움"/>
                        </a:rPr>
                        <a:t>계획</a:t>
                      </a:r>
                      <a:endParaRPr sz="1400">
                        <a:latin typeface="한컴산뜻돋움"/>
                        <a:cs typeface="한컴산뜻돋움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  <a:tc gridSpan="2"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7e7e7e">
                        <a:alpha val="6902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0" marR="0" marT="0" marB="0"/>
                </a:tc>
                <a:tc>
                  <a:txBody>
                    <a:bodyPr vert="horz" lIns="0" tIns="0" rIns="0" bIns="0" anchor="t" anchorCtr="0"/>
                    <a:lstStyle/>
                    <a:p>
                      <a:pPr lvl="0">
                        <a:lnSpc>
                          <a:spcPct val="100000"/>
                        </a:lnSpc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>
                        <a:alpha val="6902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17299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 idx="0"/>
          </p:nvPr>
        </p:nvSpPr>
        <p:spPr>
          <a:xfrm>
            <a:off x="185395" y="191820"/>
            <a:ext cx="3249812" cy="459740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95"/>
              </a:spcBef>
              <a:defRPr/>
            </a:pPr>
            <a:r>
              <a:rPr/>
              <a:t>Github</a:t>
            </a:r>
            <a:r>
              <a:rPr spc="-75"/>
              <a:t> </a:t>
            </a:r>
            <a:r>
              <a:rPr spc="-155"/>
              <a:t>커밋</a:t>
            </a:r>
            <a:r>
              <a:rPr spc="-95"/>
              <a:t> </a:t>
            </a:r>
            <a:r>
              <a:rPr spc="-80"/>
              <a:t>통계</a:t>
            </a:r>
            <a:endParaRPr spc="-8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081511" y="6626860"/>
            <a:ext cx="967739" cy="135890"/>
          </a:xfrm>
          <a:prstGeom prst="rect">
            <a:avLst/>
          </a:prstGeom>
        </p:spPr>
        <p:txBody>
          <a:bodyPr vert="horz" wrap="square" lIns="0" tIns="254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20"/>
              </a:spcBef>
              <a:defRPr/>
            </a:pPr>
            <a:r>
              <a:rPr spc="10"/>
              <a:t>Copyleft</a:t>
            </a:r>
            <a:r>
              <a:rPr spc="-5"/>
              <a:t> </a:t>
            </a:r>
            <a:r>
              <a:rPr spc="10"/>
              <a:t>by</a:t>
            </a:r>
            <a:r>
              <a:rPr spc="25"/>
              <a:t> </a:t>
            </a:r>
            <a:r>
              <a:rPr spc="-25"/>
              <a:t>이대현</a:t>
            </a:r>
            <a:endParaRPr spc="-25"/>
          </a:p>
        </p:txBody>
      </p:sp>
      <p:sp>
        <p:nvSpPr>
          <p:cNvPr id="17" name="object 2"/>
          <p:cNvSpPr/>
          <p:nvPr/>
        </p:nvSpPr>
        <p:spPr>
          <a:xfrm>
            <a:off x="44556" y="757934"/>
            <a:ext cx="12004887" cy="0"/>
          </a:xfrm>
          <a:custGeom>
            <a:avLst/>
            <a:gdLst/>
            <a:rect l="l" t="t" r="r" b="b"/>
            <a:pathLst>
              <a:path w="9003665">
                <a:moveTo>
                  <a:pt x="0" y="0"/>
                </a:moveTo>
                <a:lnTo>
                  <a:pt x="9003140" y="0"/>
                </a:lnTo>
              </a:path>
            </a:pathLst>
          </a:custGeom>
          <a:ln w="25400">
            <a:solidFill>
              <a:srgbClr val="048ed2"/>
            </a:solidFill>
          </a:ln>
        </p:spPr>
        <p:txBody>
          <a:bodyPr wrap="square" lIns="0" tIns="0" rIns="0" bIns="0"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10272" y="950080"/>
            <a:ext cx="10371456" cy="495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8415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18</ep:Words>
  <ep:PresentationFormat>화면 슬라이드 쇼(4:3)</ep:PresentationFormat>
  <ep:Paragraphs>8</ep:Paragraphs>
  <ep:Slides>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한컴오피스</vt:lpstr>
      <vt:lpstr>상업의 제왕</vt:lpstr>
      <vt:lpstr>프로젝트 개발 진행 상황</vt:lpstr>
      <vt:lpstr>Github 커밋 통계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2025-11-12T10:07:14.894</dcterms:created>
  <dc:creator>서상혁</dc:creator>
  <cp:lastModifiedBy>서상혁</cp:lastModifiedBy>
  <dcterms:modified xsi:type="dcterms:W3CDTF">2025-11-12T11:55:35.747</dcterms:modified>
  <cp:revision>14</cp:revision>
  <dc:title>프로젝트 개발 진행 상황</dc:title>
  <cp:version>12.0.0.4204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